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17320"/>
            <a:ext cx="576072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600" b="1" dirty="0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SIH26262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600" b="1" dirty="0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AICTE Approval Workflow Automation, Compliance Monitoring and Alert Management System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600" b="1" dirty="0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600" b="1" dirty="0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600" b="1" dirty="0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]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1600" b="1" dirty="0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agline"/>
          <p:cNvSpPr txBox="1"/>
          <p:nvPr/>
        </p:nvSpPr>
        <p:spPr>
          <a:xfrm>
            <a:off x="411480" y="598932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800" b="1" i="0">
                <a:solidFill>
                  <a:srgbClr val="0070C0"/>
                </a:solidFill>
                <a:latin typeface="Times New Roman"/>
              </a:rPr>
              <a:t>ApprovalTrack</a:t>
            </a:r>
            <a:r>
              <a:rPr sz="1400" b="0" i="1">
                <a:solidFill>
                  <a:srgbClr val="1F3864"/>
                </a:solidFill>
                <a:latin typeface="Times New Roman"/>
              </a:rPr>
              <a:t>  ·  Rules that run themselves. Decisions that stay human.</a:t>
            </a:r>
          </a:p>
        </p:txBody>
      </p:sp>
      <p:sp>
        <p:nvSpPr>
          <p:cNvPr id="39" name="Team members"/>
          <p:cNvSpPr txBox="1"/>
          <p:nvPr/>
        </p:nvSpPr>
        <p:spPr>
          <a:xfrm>
            <a:off x="411480" y="6382512"/>
            <a:ext cx="11338560" cy="329184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Team Members: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Arihant Jain  · 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Yuvika Mittal  · 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Alwaz Alam  · 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Reeshu Singh Rajput  · 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Mahatva Goel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82880"/>
            <a:ext cx="7863840" cy="896112"/>
          </a:xfrm>
          <a:prstGeom prst="roundRect">
            <a:avLst>
              <a:gd name="adj" fmla="val 22000"/>
            </a:avLst>
          </a:prstGeom>
          <a:solidFill>
            <a:srgbClr val="0070C0"/>
          </a:solidFill>
        </p:spPr>
        <p:txBody>
          <a:bodyPr anchor="ctr" tIns="18288" bIns="18288" wrap="square"/>
          <a:lstStyle/>
          <a:p>
            <a:pPr eaLnBrk="1" hangingPunct="1" algn="ctr"/>
            <a:r>
              <a:rPr sz="2800" b="1">
                <a:solidFill>
                  <a:srgbClr val="FFFFFF"/>
                </a:solidFill>
                <a:latin typeface="Times New Roman"/>
              </a:rPr>
              <a:t>ApprovalTrack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Approval Workflow, Compliance &amp; Alert Automation for AICTE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400" b="1"/>
              <a:t>Infera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83080" y="1115568"/>
            <a:ext cx="7863840" cy="329184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ctr"/>
            <a:r>
              <a:rPr sz="1500" b="1" i="1">
                <a:solidFill>
                  <a:srgbClr val="1F3864"/>
                </a:solidFill>
                <a:latin typeface="Times New Roman"/>
              </a:rPr>
              <a:t>“Rules that run themselves. Decisions that stay human.”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572768"/>
            <a:ext cx="1554480" cy="603504"/>
          </a:xfrm>
          <a:prstGeom prst="roundRect">
            <a:avLst>
              <a:gd name="adj" fmla="val 15000"/>
            </a:avLst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THE PROBLEM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057400" y="1572768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Pendency, EVC visits, undertakings and lease renewals are chased by phone and email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349240" y="1572768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Deadlines and expiring documents slip because nobody is alerted in time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641080" y="1572768"/>
            <a:ext cx="3200400" cy="603504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No single view of who owns the next action, by when, and why</a:t>
            </a:r>
          </a:p>
        </p:txBody>
      </p:sp>
      <p:sp>
        <p:nvSpPr>
          <p:cNvPr id="15367" name="Verb ROUTE"/>
          <p:cNvSpPr/>
          <p:nvPr/>
        </p:nvSpPr>
        <p:spPr>
          <a:xfrm>
            <a:off x="365760" y="2377440"/>
            <a:ext cx="2377440" cy="548640"/>
          </a:xfrm>
          <a:prstGeom prst="homePlate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 ROUTE</a:t>
            </a:r>
          </a:p>
        </p:txBody>
      </p:sp>
      <p:sp>
        <p:nvSpPr>
          <p:cNvPr id="15368" name="Oval 15367"/>
          <p:cNvSpPr/>
          <p:nvPr/>
        </p:nvSpPr>
        <p:spPr>
          <a:xfrm>
            <a:off x="539496" y="3099816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9" name="Picture 15368" descr="Fa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5" y="3200765"/>
            <a:ext cx="218724" cy="218724"/>
          </a:xfrm>
          <a:prstGeom prst="rect">
            <a:avLst/>
          </a:prstGeom>
        </p:spPr>
      </p:pic>
      <p:sp>
        <p:nvSpPr>
          <p:cNvPr id="15370" name="TextBox 15369"/>
          <p:cNvSpPr txBox="1"/>
          <p:nvPr/>
        </p:nvSpPr>
        <p:spPr>
          <a:xfrm>
            <a:off x="1051560" y="3017520"/>
            <a:ext cx="1572768" cy="77724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Versioned policy classifies each application to one of 5 routes; no match → an officer classifies</a:t>
            </a:r>
          </a:p>
        </p:txBody>
      </p:sp>
      <p:sp>
        <p:nvSpPr>
          <p:cNvPr id="15371" name="Verb CLOCK"/>
          <p:cNvSpPr/>
          <p:nvPr/>
        </p:nvSpPr>
        <p:spPr>
          <a:xfrm>
            <a:off x="2660903" y="2377440"/>
            <a:ext cx="2377440" cy="548640"/>
          </a:xfrm>
          <a:prstGeom prst="chevron">
            <a:avLst>
              <a:gd name="adj" fmla="val 35000"/>
            </a:avLst>
          </a:prstGeom>
          <a:solidFill>
            <a:srgbClr val="25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 CLOCK</a:t>
            </a:r>
          </a:p>
        </p:txBody>
      </p:sp>
      <p:sp>
        <p:nvSpPr>
          <p:cNvPr id="15372" name="Oval 15371"/>
          <p:cNvSpPr/>
          <p:nvPr/>
        </p:nvSpPr>
        <p:spPr>
          <a:xfrm>
            <a:off x="2834639" y="3099816"/>
            <a:ext cx="420624" cy="420624"/>
          </a:xfrm>
          <a:prstGeom prst="ellipse">
            <a:avLst/>
          </a:prstGeom>
          <a:solidFill>
            <a:srgbClr val="25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3" name="Picture 15372" descr="Fa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589" y="3200765"/>
            <a:ext cx="218724" cy="218724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3346703" y="3017520"/>
            <a:ext cx="1572768" cy="77724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Every stage and every institution response gets a due date, with the rule behind it</a:t>
            </a:r>
          </a:p>
        </p:txBody>
      </p:sp>
      <p:sp>
        <p:nvSpPr>
          <p:cNvPr id="15375" name="Verb ESCALATE"/>
          <p:cNvSpPr/>
          <p:nvPr/>
        </p:nvSpPr>
        <p:spPr>
          <a:xfrm>
            <a:off x="4956048" y="2377440"/>
            <a:ext cx="2377440" cy="548640"/>
          </a:xfrm>
          <a:prstGeom prst="chevron">
            <a:avLst>
              <a:gd name="adj" fmla="val 35000"/>
            </a:avLst>
          </a:prstGeom>
          <a:solidFill>
            <a:srgbClr val="2E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 ESCALATE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5129783" y="3099816"/>
            <a:ext cx="420624" cy="420624"/>
          </a:xfrm>
          <a:prstGeom prst="ellipse">
            <a:avLst/>
          </a:prstGeom>
          <a:solidFill>
            <a:srgbClr val="2E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7" name="Picture 15376" descr="Fa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733" y="3200765"/>
            <a:ext cx="218724" cy="218724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5641848" y="3017520"/>
            <a:ext cx="1572768" cy="77724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Reminders 30 / 7 / 1 days before, overdue → case officer → bureau. Only notifies</a:t>
            </a:r>
          </a:p>
        </p:txBody>
      </p:sp>
      <p:sp>
        <p:nvSpPr>
          <p:cNvPr id="15379" name="Verb WATCH"/>
          <p:cNvSpPr/>
          <p:nvPr/>
        </p:nvSpPr>
        <p:spPr>
          <a:xfrm>
            <a:off x="7251192" y="2377440"/>
            <a:ext cx="2377440" cy="548640"/>
          </a:xfrm>
          <a:prstGeom prst="chevron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  WATCH</a:t>
            </a:r>
          </a:p>
        </p:txBody>
      </p:sp>
      <p:sp>
        <p:nvSpPr>
          <p:cNvPr id="15380" name="Oval 15379"/>
          <p:cNvSpPr/>
          <p:nvPr/>
        </p:nvSpPr>
        <p:spPr>
          <a:xfrm>
            <a:off x="7424927" y="3099816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1" name="Picture 15380" descr="Fa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877" y="3200765"/>
            <a:ext cx="218724" cy="218724"/>
          </a:xfrm>
          <a:prstGeom prst="rect">
            <a:avLst/>
          </a:prstGeom>
        </p:spPr>
      </p:pic>
      <p:sp>
        <p:nvSpPr>
          <p:cNvPr id="15382" name="TextBox 15381"/>
          <p:cNvSpPr txBox="1"/>
          <p:nvPr/>
        </p:nvSpPr>
        <p:spPr>
          <a:xfrm>
            <a:off x="7936992" y="3017520"/>
            <a:ext cx="1572768" cy="77724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Approval conditions become tracked obligations: evidence, verification, renewal</a:t>
            </a:r>
          </a:p>
        </p:txBody>
      </p:sp>
      <p:sp>
        <p:nvSpPr>
          <p:cNvPr id="15383" name="Verb PROVE"/>
          <p:cNvSpPr/>
          <p:nvPr/>
        </p:nvSpPr>
        <p:spPr>
          <a:xfrm>
            <a:off x="9546336" y="2377440"/>
            <a:ext cx="2377440" cy="548640"/>
          </a:xfrm>
          <a:prstGeom prst="chevron">
            <a:avLst>
              <a:gd name="adj" fmla="val 35000"/>
            </a:avLst>
          </a:prstGeom>
          <a:solidFill>
            <a:srgbClr val="2F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  PROVE</a:t>
            </a:r>
          </a:p>
        </p:txBody>
      </p:sp>
      <p:sp>
        <p:nvSpPr>
          <p:cNvPr id="15384" name="Oval 15383"/>
          <p:cNvSpPr/>
          <p:nvPr/>
        </p:nvSpPr>
        <p:spPr>
          <a:xfrm>
            <a:off x="9720072" y="3099816"/>
            <a:ext cx="420624" cy="420624"/>
          </a:xfrm>
          <a:prstGeom prst="ellipse">
            <a:avLst/>
          </a:prstGeom>
          <a:solidFill>
            <a:srgbClr val="2F8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5" name="Picture 15384" descr="FaShield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1021" y="3200765"/>
            <a:ext cx="218724" cy="218724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10232136" y="3017520"/>
            <a:ext cx="1572768" cy="77724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Hash-chained audit: every action, actor, reason and document version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65760" y="4069080"/>
            <a:ext cx="5440680" cy="2130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Rounded Rectangle 15387"/>
          <p:cNvSpPr/>
          <p:nvPr/>
        </p:nvSpPr>
        <p:spPr>
          <a:xfrm>
            <a:off x="502920" y="3913632"/>
            <a:ext cx="246888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89" name="Oval 15388"/>
          <p:cNvSpPr/>
          <p:nvPr/>
        </p:nvSpPr>
        <p:spPr>
          <a:xfrm>
            <a:off x="530352" y="4370831"/>
            <a:ext cx="292608" cy="29260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932688" y="4315968"/>
            <a:ext cx="4754880" cy="40233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One action panel per case: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owner, stage, due date and next permitted step</a:t>
            </a:r>
          </a:p>
        </p:txBody>
      </p:sp>
      <p:sp>
        <p:nvSpPr>
          <p:cNvPr id="15391" name="Oval 15390"/>
          <p:cNvSpPr/>
          <p:nvPr/>
        </p:nvSpPr>
        <p:spPr>
          <a:xfrm>
            <a:off x="530352" y="4828031"/>
            <a:ext cx="292608" cy="29260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932688" y="4773168"/>
            <a:ext cx="4754880" cy="40233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Deadlines are chased by the system,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not by staff; escalations go up the ladder</a:t>
            </a:r>
          </a:p>
        </p:txBody>
      </p:sp>
      <p:sp>
        <p:nvSpPr>
          <p:cNvPr id="15393" name="Oval 15392"/>
          <p:cNvSpPr/>
          <p:nvPr/>
        </p:nvSpPr>
        <p:spPr>
          <a:xfrm>
            <a:off x="530352" y="5285231"/>
            <a:ext cx="292608" cy="29260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932688" y="5230368"/>
            <a:ext cx="4754880" cy="40233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Returns and re-scrutiny keep full history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(attempt 1, attempt 2 …)</a:t>
            </a:r>
          </a:p>
        </p:txBody>
      </p:sp>
      <p:sp>
        <p:nvSpPr>
          <p:cNvPr id="15395" name="Oval 15394"/>
          <p:cNvSpPr/>
          <p:nvPr/>
        </p:nvSpPr>
        <p:spPr>
          <a:xfrm>
            <a:off x="530352" y="5742431"/>
            <a:ext cx="292608" cy="29260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932688" y="5687568"/>
            <a:ext cx="4754880" cy="40233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Rules change by publishing a new version;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running cases stay on theirs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5989320" y="4069080"/>
            <a:ext cx="5833872" cy="2130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8" name="Rounded Rectangle 15397"/>
          <p:cNvSpPr/>
          <p:nvPr/>
        </p:nvSpPr>
        <p:spPr>
          <a:xfrm>
            <a:off x="6126480" y="3913632"/>
            <a:ext cx="2080260" cy="310896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6126480" y="4279392"/>
            <a:ext cx="1801368" cy="1810512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0" name="Oval 15399"/>
          <p:cNvSpPr/>
          <p:nvPr/>
        </p:nvSpPr>
        <p:spPr>
          <a:xfrm>
            <a:off x="6227064" y="437083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1" name="Picture 15400" descr="Fa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3624" y="4467392"/>
            <a:ext cx="209214" cy="209214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6693408" y="4352544"/>
            <a:ext cx="1170432" cy="45720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Obligation &amp; evidence register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6236208" y="4873752"/>
            <a:ext cx="1609344" cy="11887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Decision → condition → obligation → deadline → evidence → verification → closure, all linked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8019288" y="4279392"/>
            <a:ext cx="1801368" cy="1810512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5" name="Oval 15404"/>
          <p:cNvSpPr/>
          <p:nvPr/>
        </p:nvSpPr>
        <p:spPr>
          <a:xfrm>
            <a:off x="8119871" y="437083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6" name="Picture 15405" descr="FaSearchPl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432" y="4467392"/>
            <a:ext cx="209214" cy="209214"/>
          </a:xfrm>
          <a:prstGeom prst="rect">
            <a:avLst/>
          </a:prstGeom>
        </p:spPr>
      </p:pic>
      <p:sp>
        <p:nvSpPr>
          <p:cNvPr id="15407" name="TextBox 15406"/>
          <p:cNvSpPr txBox="1"/>
          <p:nvPr/>
        </p:nvSpPr>
        <p:spPr>
          <a:xfrm>
            <a:off x="8586215" y="4352544"/>
            <a:ext cx="1170432" cy="45720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Policy impact preview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8129015" y="4873752"/>
            <a:ext cx="1609344" cy="11887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See which routes and deadlines change before a new rule version is published</a:t>
            </a:r>
          </a:p>
        </p:txBody>
      </p:sp>
      <p:sp>
        <p:nvSpPr>
          <p:cNvPr id="15409" name="Rounded Rectangle 15408"/>
          <p:cNvSpPr/>
          <p:nvPr/>
        </p:nvSpPr>
        <p:spPr>
          <a:xfrm>
            <a:off x="9912096" y="4279392"/>
            <a:ext cx="1801368" cy="1810512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0" name="Oval 15409"/>
          <p:cNvSpPr/>
          <p:nvPr/>
        </p:nvSpPr>
        <p:spPr>
          <a:xfrm>
            <a:off x="10012680" y="437083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1" name="Picture 15410" descr="FaGave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9240" y="4467392"/>
            <a:ext cx="209214" cy="209214"/>
          </a:xfrm>
          <a:prstGeom prst="rect">
            <a:avLst/>
          </a:prstGeom>
        </p:spPr>
      </p:pic>
      <p:sp>
        <p:nvSpPr>
          <p:cNvPr id="15412" name="TextBox 15411"/>
          <p:cNvSpPr txBox="1"/>
          <p:nvPr/>
        </p:nvSpPr>
        <p:spPr>
          <a:xfrm>
            <a:off x="10479024" y="4352544"/>
            <a:ext cx="1170432" cy="45720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The system never decides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10021824" y="4873752"/>
            <a:ext cx="1609344" cy="11887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Only an authorised officer records approve / reject. Escalation only notifies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82880"/>
            <a:ext cx="7863840" cy="749808"/>
          </a:xfrm>
          <a:prstGeom prst="roundRect">
            <a:avLst>
              <a:gd name="adj" fmla="val 22000"/>
            </a:avLst>
          </a:prstGeom>
          <a:solidFill>
            <a:srgbClr val="0070C0"/>
          </a:solidFill>
        </p:spPr>
        <p:txBody>
          <a:bodyPr anchor="ctr" tIns="18288" bIns="18288" wrap="square"/>
          <a:lstStyle/>
          <a:p>
            <a:pPr eaLnBrk="1" hangingPunct="1" algn="ctr"/>
            <a:r>
              <a:rPr sz="2800" b="1">
                <a:solidFill>
                  <a:srgbClr val="FFFFFF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400" b="1"/>
              <a:t>Infera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80160"/>
            <a:ext cx="763524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502920" y="1124712"/>
            <a:ext cx="411480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Methodology: life of an application (flowchart)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25780" y="16002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Institution submits application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446020" y="16002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Snapshot frozen (SHA-256 hash)</a:t>
            </a:r>
          </a:p>
        </p:txBody>
      </p:sp>
      <p:sp>
        <p:nvSpPr>
          <p:cNvPr id="17414" name="Diamond 17413"/>
          <p:cNvSpPr/>
          <p:nvPr/>
        </p:nvSpPr>
        <p:spPr>
          <a:xfrm>
            <a:off x="4389120" y="1463040"/>
            <a:ext cx="1554480" cy="822960"/>
          </a:xfrm>
          <a:prstGeom prst="diamond">
            <a:avLst/>
          </a:prstGeom>
          <a:solidFill>
            <a:srgbClr val="FBE5D6"/>
          </a:solidFill>
          <a:ln w="12700">
            <a:solidFill>
              <a:srgbClr val="E4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50" b="1" i="0">
                <a:solidFill>
                  <a:srgbClr val="262626"/>
                </a:solidFill>
                <a:latin typeface="Arial"/>
              </a:rPr>
              <a:t>Policy rule matches?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40780" y="16002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262626"/>
                </a:solidFill>
                <a:latin typeface="Arial"/>
              </a:rPr>
              <a:t>Route selected (1 of 5 routes)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2125980" y="1874519"/>
            <a:ext cx="32004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4046220" y="1874519"/>
            <a:ext cx="34290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5943600" y="1874519"/>
            <a:ext cx="29718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5961888" y="1609344"/>
            <a:ext cx="274320" cy="20116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900" b="1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5166360" y="2286000"/>
            <a:ext cx="0" cy="32004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5239512" y="2304288"/>
            <a:ext cx="365760" cy="22860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00" b="1" i="0">
                <a:solidFill>
                  <a:srgbClr val="C00000"/>
                </a:solidFill>
                <a:latin typeface="Arial"/>
              </a:rPr>
              <a:t>No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366260" y="2606040"/>
            <a:ext cx="1600200" cy="530352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Officer classifies manually (reason logged)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5966460" y="2871216"/>
            <a:ext cx="1019556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7040880" y="2148840"/>
            <a:ext cx="0" cy="128016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6240780" y="34290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262626"/>
                </a:solidFill>
                <a:latin typeface="Arial"/>
              </a:rPr>
              <a:t>Scrutiny: checklist + findings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366260" y="34290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EVC visit (if the route needs it)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446020" y="34290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SAC / SHC committee review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25780" y="3429000"/>
            <a:ext cx="1600200" cy="5486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Competent authority decides</a:t>
            </a:r>
          </a:p>
        </p:txBody>
      </p:sp>
      <p:cxnSp>
        <p:nvCxnSpPr>
          <p:cNvPr id="17429" name="Connector 17428"/>
          <p:cNvCxnSpPr/>
          <p:nvPr/>
        </p:nvCxnSpPr>
        <p:spPr>
          <a:xfrm flipH="1">
            <a:off x="5966460" y="3703320"/>
            <a:ext cx="27432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 flipH="1">
            <a:off x="4046220" y="3703320"/>
            <a:ext cx="32004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 flipH="1">
            <a:off x="2125980" y="3703320"/>
            <a:ext cx="32004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6240780" y="4389120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FBE5D6"/>
          </a:solidFill>
          <a:ln w="12700">
            <a:solidFill>
              <a:srgbClr val="E46C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Finding → Return → Institution responds → Attempt 2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6720840" y="3977639"/>
            <a:ext cx="0" cy="411481"/>
          </a:xfrm>
          <a:prstGeom prst="line">
            <a:avLst/>
          </a:prstGeom>
          <a:ln w="19050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 flipV="1">
            <a:off x="7360920" y="3977639"/>
            <a:ext cx="0" cy="411481"/>
          </a:xfrm>
          <a:prstGeom prst="line">
            <a:avLst/>
          </a:prstGeom>
          <a:ln w="19050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1325880" y="3977639"/>
            <a:ext cx="0" cy="1216153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1325880" y="4645152"/>
            <a:ext cx="384048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5166360" y="4645152"/>
            <a:ext cx="0" cy="54864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502920" y="5193792"/>
            <a:ext cx="3246120" cy="77724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2E7D32"/>
                </a:solidFill>
                <a:latin typeface="Arial"/>
              </a:rPr>
              <a:t>Approved: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conditions become obligations with their own clock, evidence and verification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977639" y="5193792"/>
            <a:ext cx="2377440" cy="777240"/>
          </a:xfrm>
          <a:prstGeom prst="roundRect">
            <a:avLst>
              <a:gd name="adj" fmla="val 15000"/>
            </a:avLst>
          </a:prstGeom>
          <a:solidFill>
            <a:srgbClr val="F8D7D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C00000"/>
                </a:solidFill>
                <a:latin typeface="Arial"/>
              </a:rPr>
              <a:t>Rejected: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appeal → SAC review; original decision stays unchanged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492240" y="5193792"/>
            <a:ext cx="1371600" cy="77724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Every step: audit + deadline + notification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8183879" y="1280160"/>
            <a:ext cx="3639312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ounded Rectangle 17441"/>
          <p:cNvSpPr/>
          <p:nvPr/>
        </p:nvSpPr>
        <p:spPr>
          <a:xfrm>
            <a:off x="8321040" y="1124712"/>
            <a:ext cx="1847088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Architecture &amp; stack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339327" y="1572768"/>
            <a:ext cx="3328416" cy="50292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262626"/>
                </a:solidFill>
                <a:latin typeface="Arial"/>
              </a:rPr>
              <a:t>Web app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React + TypeScript, role-based screens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10003536" y="2075688"/>
            <a:ext cx="0" cy="210312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8339327" y="2286000"/>
            <a:ext cx="3328416" cy="109728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API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Fastify + Zod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  <a:latin typeface="Arial"/>
              </a:rPr>
              <a:t>Command pipeline, one DB transaction: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FFFFFF"/>
                </a:solidFill>
                <a:latin typeface="Arial"/>
              </a:rPr>
              <a:t>auth → scope → version → guard → run → audit + outbox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10003536" y="3383280"/>
            <a:ext cx="0" cy="210312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8339327" y="3593592"/>
            <a:ext cx="3328416" cy="71323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PostgreSQL  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cases · versioned policy · deadlines · hash-chained audit</a:t>
            </a:r>
          </a:p>
        </p:txBody>
      </p:sp>
      <p:cxnSp>
        <p:nvCxnSpPr>
          <p:cNvPr id="17448" name="Connector 17447"/>
          <p:cNvCxnSpPr/>
          <p:nvPr/>
        </p:nvCxnSpPr>
        <p:spPr>
          <a:xfrm flipV="1">
            <a:off x="9436607" y="4306824"/>
            <a:ext cx="0" cy="219456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9" name="Connector 17448"/>
          <p:cNvCxnSpPr/>
          <p:nvPr/>
        </p:nvCxnSpPr>
        <p:spPr>
          <a:xfrm>
            <a:off x="10570463" y="4306824"/>
            <a:ext cx="0" cy="219456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8339327" y="4526280"/>
            <a:ext cx="3328416" cy="658368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62626"/>
                </a:solidFill>
                <a:latin typeface="Arial"/>
              </a:rPr>
              <a:t>Background worker  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deadline scheduler · reminders · escalation · email outbox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339327" y="5303520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React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9194292" y="5303520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TypeScript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10049255" y="5303520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Vite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0904219" y="5303520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Fastify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339327" y="5614416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Zod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9194292" y="5614416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PostgreSQL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10049255" y="5614416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Vitest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10904219" y="5614416"/>
            <a:ext cx="76352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63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1F3864"/>
                </a:solidFill>
                <a:latin typeface="Arial"/>
              </a:rPr>
              <a:t>Node 22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339327" y="5925312"/>
            <a:ext cx="3328416" cy="228600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ctr"/>
            <a:r>
              <a:rPr sz="1000" b="1" i="0">
                <a:solidFill>
                  <a:srgbClr val="2E7D32"/>
                </a:solidFill>
                <a:latin typeface="Arial"/>
              </a:rPr>
              <a:t>No paid services · runs offline · open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82880"/>
            <a:ext cx="7863840" cy="749808"/>
          </a:xfrm>
          <a:prstGeom prst="roundRect">
            <a:avLst>
              <a:gd name="adj" fmla="val 22000"/>
            </a:avLst>
          </a:prstGeom>
          <a:solidFill>
            <a:srgbClr val="0070C0"/>
          </a:solidFill>
        </p:spPr>
        <p:txBody>
          <a:bodyPr anchor="ctr" tIns="18288" bIns="18288" wrap="square"/>
          <a:lstStyle/>
          <a:p>
            <a:pPr eaLnBrk="1" hangingPunct="1" algn="ctr"/>
            <a:r>
              <a:rPr sz="2800" b="1">
                <a:solidFill>
                  <a:srgbClr val="FFFFFF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400" b="1"/>
              <a:t>Infera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07008"/>
            <a:ext cx="2743200" cy="10241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1243584"/>
            <a:ext cx="1051560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ctr"/>
            <a:r>
              <a:rPr sz="3000" b="1" i="0">
                <a:solidFill>
                  <a:srgbClr val="0070C0"/>
                </a:solidFill>
                <a:latin typeface="Times New Roman"/>
              </a:rPr>
              <a:t>99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581912" y="1243584"/>
            <a:ext cx="1444752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automated tests passing against a real PostgreSQL database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73552" y="1207008"/>
            <a:ext cx="2743200" cy="10241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410712" y="1243584"/>
            <a:ext cx="1051560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ctr"/>
            <a:r>
              <a:rPr sz="3000" b="1" i="0">
                <a:solidFill>
                  <a:srgbClr val="2E7D32"/>
                </a:solidFill>
                <a:latin typeface="Times New Roman"/>
              </a:rPr>
              <a:t>8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89704" y="1243584"/>
            <a:ext cx="1444752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integrated modules in one platform, one login, one record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81344" y="1207008"/>
            <a:ext cx="2743200" cy="10241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318504" y="1243584"/>
            <a:ext cx="1051560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ctr"/>
            <a:r>
              <a:rPr sz="3000" b="1" i="0">
                <a:solidFill>
                  <a:srgbClr val="1F3864"/>
                </a:solidFill>
                <a:latin typeface="Times New Roman"/>
              </a:rPr>
              <a:t>5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97496" y="1243584"/>
            <a:ext cx="1444752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approval routes running from a versioned, validated policy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89136" y="1207008"/>
            <a:ext cx="2743200" cy="10241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226296" y="1243584"/>
            <a:ext cx="1051560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ctr"/>
            <a:r>
              <a:rPr sz="3000" b="1" i="0">
                <a:solidFill>
                  <a:srgbClr val="E46C0A"/>
                </a:solidFill>
                <a:latin typeface="Times New Roman"/>
              </a:rPr>
              <a:t>₹0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0305288" y="1243584"/>
            <a:ext cx="1444752" cy="950976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licence cost: open-source stack, runs on one laptop, offline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542032"/>
            <a:ext cx="11457432" cy="12618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502920" y="2386584"/>
            <a:ext cx="457200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The final platform: 8 modules working as one system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081849" y="2971800"/>
            <a:ext cx="10025253" cy="0"/>
          </a:xfrm>
          <a:prstGeom prst="line">
            <a:avLst/>
          </a:prstGeom>
          <a:ln w="31750">
            <a:solidFill>
              <a:srgbClr val="9DC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Oval 17424"/>
          <p:cNvSpPr/>
          <p:nvPr/>
        </p:nvSpPr>
        <p:spPr>
          <a:xfrm>
            <a:off x="853249" y="27432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6" name="Picture 17425" descr="FaUser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977" y="2852928"/>
            <a:ext cx="237744" cy="237744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386905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Secure login &amp; role-based access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2285428" y="2743200"/>
            <a:ext cx="457200" cy="457200"/>
          </a:xfrm>
          <a:prstGeom prst="ellipse">
            <a:avLst/>
          </a:prstGeom>
          <a:solidFill>
            <a:srgbClr val="25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9" name="Picture 17428" descr="Fa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156" y="2852928"/>
            <a:ext cx="237744" cy="237744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1819084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Smart routing &amp; full workflow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3717607" y="2743200"/>
            <a:ext cx="457200" cy="457200"/>
          </a:xfrm>
          <a:prstGeom prst="ellipse">
            <a:avLst/>
          </a:prstGeom>
          <a:solidFill>
            <a:srgbClr val="2E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FaRed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335" y="2852928"/>
            <a:ext cx="237744" cy="23774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251263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Returns, re-scrutiny &amp; appeals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5149786" y="27432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Fa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9514" y="2852928"/>
            <a:ext cx="237744" cy="237744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4683442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Deadlines, reminders &amp; escalation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6581965" y="27432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FaCalendar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1693" y="2852928"/>
            <a:ext cx="237744" cy="237744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6115621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EVC scheduling &amp; conflict check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8014144" y="2743200"/>
            <a:ext cx="457200" cy="457200"/>
          </a:xfrm>
          <a:prstGeom prst="ellipse">
            <a:avLst/>
          </a:prstGeom>
          <a:solidFill>
            <a:srgbClr val="2E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FaFile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3872" y="2852928"/>
            <a:ext cx="237744" cy="237744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7547800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Documents &amp; obligation tracking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9446323" y="2743200"/>
            <a:ext cx="457200" cy="457200"/>
          </a:xfrm>
          <a:prstGeom prst="ellipse">
            <a:avLst/>
          </a:prstGeom>
          <a:solidFill>
            <a:srgbClr val="25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FaChart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6051" y="2852928"/>
            <a:ext cx="237744" cy="237744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8979979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Live dashboards &amp; reports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10878502" y="27432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7" name="Picture 17446" descr="FaShieldA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8230" y="2852928"/>
            <a:ext cx="237744" cy="237744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10412158" y="3246120"/>
            <a:ext cx="1389888" cy="5029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ctr"/>
            <a:r>
              <a:rPr sz="1000" b="1" i="0">
                <a:solidFill>
                  <a:srgbClr val="262626"/>
                </a:solidFill>
                <a:latin typeface="Arial"/>
              </a:rPr>
              <a:t>Tamper-proof audit &amp; policy preview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65760" y="4041648"/>
            <a:ext cx="3703320" cy="310896"/>
          </a:xfrm>
          <a:prstGeom prst="roundRect">
            <a:avLst>
              <a:gd name="adj" fmla="val 30000"/>
            </a:avLst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Challenge / risk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617720" y="4041648"/>
            <a:ext cx="7205472" cy="310896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Strategy to overcome it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365760" y="4443984"/>
            <a:ext cx="3703320" cy="38404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262626"/>
                </a:solidFill>
                <a:latin typeface="Arial"/>
              </a:rPr>
              <a:t>Rule accuracy vs APH 2024-27</a:t>
            </a:r>
          </a:p>
        </p:txBody>
      </p:sp>
      <p:sp>
        <p:nvSpPr>
          <p:cNvPr id="17452" name="Right Arrow 17451"/>
          <p:cNvSpPr/>
          <p:nvPr/>
        </p:nvSpPr>
        <p:spPr>
          <a:xfrm>
            <a:off x="4178808" y="4517136"/>
            <a:ext cx="329184" cy="237744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Rounded Rectangle 17452"/>
          <p:cNvSpPr/>
          <p:nvPr/>
        </p:nvSpPr>
        <p:spPr>
          <a:xfrm>
            <a:off x="4617720" y="4443984"/>
            <a:ext cx="7205472" cy="38404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Rules are versioned data with a source label (APH_CLAUSE / ADMIN_INSTRUCTION / DEMO_ASSUMPTION); domain review before publishing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365760" y="4882896"/>
            <a:ext cx="3703320" cy="38404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262626"/>
                </a:solidFill>
                <a:latin typeface="Arial"/>
              </a:rPr>
              <a:t>Integration with the AICTE portal</a:t>
            </a:r>
          </a:p>
        </p:txBody>
      </p:sp>
      <p:sp>
        <p:nvSpPr>
          <p:cNvPr id="17455" name="Right Arrow 17454"/>
          <p:cNvSpPr/>
          <p:nvPr/>
        </p:nvSpPr>
        <p:spPr>
          <a:xfrm>
            <a:off x="4178808" y="4956048"/>
            <a:ext cx="329184" cy="237744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Rounded Rectangle 17455"/>
          <p:cNvSpPr/>
          <p:nvPr/>
        </p:nvSpPr>
        <p:spPr>
          <a:xfrm>
            <a:off x="4617720" y="4882896"/>
            <a:ext cx="7205472" cy="38404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Integration adapter with external-ID mapping and reconciliation, ready to plug into AICTE's authorised API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365760" y="5321808"/>
            <a:ext cx="3703320" cy="38404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262626"/>
                </a:solidFill>
                <a:latin typeface="Arial"/>
              </a:rPr>
              <a:t>Adoption by officers &amp; institutions</a:t>
            </a:r>
          </a:p>
        </p:txBody>
      </p:sp>
      <p:sp>
        <p:nvSpPr>
          <p:cNvPr id="17458" name="Right Arrow 17457"/>
          <p:cNvSpPr/>
          <p:nvPr/>
        </p:nvSpPr>
        <p:spPr>
          <a:xfrm>
            <a:off x="4178808" y="5394960"/>
            <a:ext cx="329184" cy="237744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Rounded Rectangle 17458"/>
          <p:cNvSpPr/>
          <p:nvPr/>
        </p:nvSpPr>
        <p:spPr>
          <a:xfrm>
            <a:off x="4617720" y="5321808"/>
            <a:ext cx="7205472" cy="38404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Role-based screens; every case opens on its action panel: what is pending, who owns it, by when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65760" y="5760720"/>
            <a:ext cx="3703320" cy="38404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262626"/>
                </a:solidFill>
                <a:latin typeface="Arial"/>
              </a:rPr>
              <a:t>Scheduler downtime, duplicate alerts</a:t>
            </a:r>
          </a:p>
        </p:txBody>
      </p:sp>
      <p:sp>
        <p:nvSpPr>
          <p:cNvPr id="17461" name="Right Arrow 17460"/>
          <p:cNvSpPr/>
          <p:nvPr/>
        </p:nvSpPr>
        <p:spPr>
          <a:xfrm>
            <a:off x="4178808" y="5833872"/>
            <a:ext cx="329184" cy="237744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Rounded Rectangle 17461"/>
          <p:cNvSpPr/>
          <p:nvPr/>
        </p:nvSpPr>
        <p:spPr>
          <a:xfrm>
            <a:off x="4617720" y="5760720"/>
            <a:ext cx="7205472" cy="38404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Deadlines live in the database; worker recovers on restart, sends only the current step, suppresses duplicates (tested)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82880"/>
            <a:ext cx="7863840" cy="749808"/>
          </a:xfrm>
          <a:prstGeom prst="roundRect">
            <a:avLst>
              <a:gd name="adj" fmla="val 22000"/>
            </a:avLst>
          </a:prstGeom>
          <a:solidFill>
            <a:srgbClr val="0070C0"/>
          </a:solidFill>
        </p:spPr>
        <p:txBody>
          <a:bodyPr anchor="ctr" tIns="18288" bIns="18288" wrap="square"/>
          <a:lstStyle/>
          <a:p>
            <a:pPr eaLnBrk="1" hangingPunct="1" algn="ctr"/>
            <a:r>
              <a:rPr sz="2800" b="1">
                <a:solidFill>
                  <a:srgbClr val="FFFFFF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400" b="1"/>
              <a:t>Infera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98448"/>
            <a:ext cx="11457432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502920" y="1143000"/>
            <a:ext cx="254660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Target audience: who benefits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Fa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00200"/>
            <a:ext cx="237744" cy="23774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97280" y="148132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0070C0"/>
                </a:solidFill>
                <a:latin typeface="Arial"/>
              </a:rPr>
              <a:t>Institutions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2029968"/>
            <a:ext cx="2697480" cy="9601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See what is pending, why and by when; answer findings online; reminders before every deadline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3374135" y="149047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FaUserT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3" y="1600200"/>
            <a:ext cx="237744" cy="237744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922776" y="148132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AICTE officers &amp; regional bureaus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328415" y="2029968"/>
            <a:ext cx="2697480" cy="9601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One queue with owner, stage and due date; escalations reach them only when needed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6199631" y="149047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Fa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59" y="1600200"/>
            <a:ext cx="237744" cy="237744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6748272" y="148132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E7D32"/>
                </a:solidFill>
                <a:latin typeface="Arial"/>
              </a:rPr>
              <a:t>Expert committees (EVC / SAC / SHC)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53912" y="2029968"/>
            <a:ext cx="2697480" cy="9601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Assigned cases arrive with checklist, findings and the full history of attempts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9025128" y="1490472"/>
            <a:ext cx="457200" cy="457200"/>
          </a:xfrm>
          <a:prstGeom prst="ellipse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FaBalance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6" y="1600200"/>
            <a:ext cx="237744" cy="23774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573768" y="148132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E46C0A"/>
                </a:solidFill>
                <a:latin typeface="Arial"/>
              </a:rPr>
              <a:t>Competent authority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979408" y="2029968"/>
            <a:ext cx="2697480" cy="960120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A complete, verifiable trail behind every recommendation; the decision stays theirs</a:t>
            </a:r>
          </a:p>
        </p:txBody>
      </p:sp>
      <p:graphicFrame>
        <p:nvGraphicFramePr>
          <p:cNvPr id="17428" name="Outcome table"/>
          <p:cNvGraphicFramePr>
            <a:graphicFrameLocks noGrp="1"/>
          </p:cNvGraphicFramePr>
          <p:nvPr/>
        </p:nvGraphicFramePr>
        <p:xfrm>
          <a:off x="365760" y="3017520"/>
          <a:ext cx="1145743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00400"/>
                <a:gridCol w="514807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PS expected outcome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Today (manual)</a:t>
                      </a:r>
                    </a:p>
                  </a:txBody>
                  <a:tcPr marL="73152" marR="73152" marT="27432" marB="27432" anchor="ctr"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With ApprovalTrack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Arial"/>
                        </a:rPr>
                        <a:t>Less manual follow-up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Staff chase files by phone and email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Reminders 30 / 7 / 1 days before and an escalation ladder run on their own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Arial"/>
                        </a:rPr>
                        <a:t>Fewer missed deadlines &amp; expired documents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Dates kept in spreadsheets and inboxes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Durable clock per stage; pauses on return; document validity tracked apart from upload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Arial"/>
                        </a:rPr>
                        <a:t>Visible pendency by region &amp; stage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Status scattered across offices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Scoped queues show every pending case with owner, stage and due date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Arial"/>
                        </a:rPr>
                        <a:t>Accountability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Hard to reconstruct who did what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Arial"/>
                        </a:rPr>
                        <a:t>Tamper-evident, hash-chained audit with a one-click integrity check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9" name="Rounded Rectangle 17428"/>
          <p:cNvSpPr/>
          <p:nvPr/>
        </p:nvSpPr>
        <p:spPr>
          <a:xfrm>
            <a:off x="365760" y="5394960"/>
            <a:ext cx="3721608" cy="786384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Oval 17429"/>
          <p:cNvSpPr/>
          <p:nvPr/>
        </p:nvSpPr>
        <p:spPr>
          <a:xfrm>
            <a:off x="475488" y="555955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Fa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5669280"/>
            <a:ext cx="237744" cy="237744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1024128" y="5458968"/>
            <a:ext cx="2971800" cy="65836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1" i="0">
                <a:solidFill>
                  <a:srgbClr val="0070C0"/>
                </a:solidFill>
                <a:latin typeface="Arial"/>
              </a:rPr>
              <a:t>Social: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transparent, predictable process for institutions and students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233672" y="5394960"/>
            <a:ext cx="3721608" cy="786384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Oval 17433"/>
          <p:cNvSpPr/>
          <p:nvPr/>
        </p:nvSpPr>
        <p:spPr>
          <a:xfrm>
            <a:off x="4343400" y="5559552"/>
            <a:ext cx="457200" cy="457200"/>
          </a:xfrm>
          <a:prstGeom prst="ellipse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FaRupeeSig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3128" y="5669280"/>
            <a:ext cx="237744" cy="237744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4892040" y="5458968"/>
            <a:ext cx="2971800" cy="65836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1" i="0">
                <a:solidFill>
                  <a:srgbClr val="E46C0A"/>
                </a:solidFill>
                <a:latin typeface="Arial"/>
              </a:rPr>
              <a:t>Economic: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staff time moves from chasing files to deciding; zero licence cost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101584" y="5394960"/>
            <a:ext cx="3721608" cy="786384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Oval 17437"/>
          <p:cNvSpPr/>
          <p:nvPr/>
        </p:nvSpPr>
        <p:spPr>
          <a:xfrm>
            <a:off x="8211312" y="555955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FaLea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5669280"/>
            <a:ext cx="237744" cy="237744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8759952" y="5458968"/>
            <a:ext cx="2971800" cy="65836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050" b="1" i="0">
                <a:solidFill>
                  <a:srgbClr val="2E7D32"/>
                </a:solidFill>
                <a:latin typeface="Arial"/>
              </a:rPr>
              <a:t>Environmental: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paperless files and fewer physical follow-up visits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82880"/>
            <a:ext cx="7863840" cy="749808"/>
          </a:xfrm>
          <a:prstGeom prst="roundRect">
            <a:avLst>
              <a:gd name="adj" fmla="val 22000"/>
            </a:avLst>
          </a:prstGeom>
          <a:solidFill>
            <a:srgbClr val="0070C0"/>
          </a:solidFill>
        </p:spPr>
        <p:txBody>
          <a:bodyPr anchor="ctr" tIns="18288" bIns="18288" wrap="square"/>
          <a:lstStyle/>
          <a:p>
            <a:pPr eaLnBrk="1" hangingPunct="1" algn="ctr"/>
            <a:r>
              <a:rPr sz="2800" b="1">
                <a:solidFill>
                  <a:srgbClr val="FFFFFF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400" b="1"/>
              <a:t>Infera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98448"/>
            <a:ext cx="7040880" cy="4919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502920" y="1143000"/>
            <a:ext cx="1069848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530352" y="1609344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87552" y="1536192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AICTE Approval Process Handbook 2024-27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aicte.gov.in/sites/default/files/APH Final.pdf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530352" y="2267712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87552" y="2194560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AICTE APH addenda / corrigenda 2025-26 and 2026-27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EVC and committee definitions; official copy to be verified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530352" y="292608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87552" y="2852928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PIB: launch of the Approval Process Handbook 2024-27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pib.gov.in/Pressreleaseshare.aspx?PRID=1983013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530352" y="3584448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87552" y="3511296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National Single Window System (NSWS) FAQs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nsws.gov.in/faqs: final decisions stay with the authority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530352" y="4242816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87552" y="4169663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SIH 2026 Problem Statement SIH26262 (AICTE)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sih.gov.in: expected outcomes and evaluation criteria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530352" y="4901183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87552" y="4828031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Published EoA, SAC and SHC formats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Studied for stage names, fields and decision records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530352" y="5559552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87552" y="5486400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27432" bIns="27432"/>
          <a:lstStyle/>
          <a:p>
            <a:pPr algn="l"/>
            <a:r>
              <a:rPr sz="1150" b="1" i="0">
                <a:solidFill>
                  <a:srgbClr val="262626"/>
                </a:solidFill>
                <a:latin typeface="Arial"/>
              </a:rPr>
              <a:t>PostgreSQL documentation: row locking</a:t>
            </a:r>
          </a:p>
          <a:p>
            <a:pPr algn="l"/>
            <a:r>
              <a:rPr sz="1050" b="0" i="0">
                <a:solidFill>
                  <a:srgbClr val="0070C0"/>
                </a:solidFill>
                <a:latin typeface="Arial"/>
              </a:rPr>
              <a:t>SELECT … FOR UPDATE SKIP LOCKED for a durable deadline queue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589520" y="1298448"/>
            <a:ext cx="4233672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Rounded Rectangle 17426"/>
          <p:cNvSpPr/>
          <p:nvPr/>
        </p:nvSpPr>
        <p:spPr>
          <a:xfrm>
            <a:off x="7726680" y="1143000"/>
            <a:ext cx="3108960" cy="310896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What we studied → what we built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726679" y="1572768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 i="0">
                <a:solidFill>
                  <a:srgbClr val="262626"/>
                </a:solidFill>
                <a:latin typeface="Arial"/>
              </a:rPr>
              <a:t>Route table (APH Table 2.3)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9573768" y="1746504"/>
            <a:ext cx="274320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Rounded Rectangle 17429"/>
          <p:cNvSpPr/>
          <p:nvPr/>
        </p:nvSpPr>
        <p:spPr>
          <a:xfrm>
            <a:off x="9912096" y="1572768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5 configurable routes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726679" y="2267712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 i="0">
                <a:solidFill>
                  <a:srgbClr val="262626"/>
                </a:solidFill>
                <a:latin typeface="Arial"/>
              </a:rPr>
              <a:t>Hearing &amp; appeal process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9573768" y="2441448"/>
            <a:ext cx="274320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9912096" y="2267712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Appeal as a linked workflow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726679" y="2962656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 i="0">
                <a:solidFill>
                  <a:srgbClr val="262626"/>
                </a:solidFill>
                <a:latin typeface="Arial"/>
              </a:rPr>
              <a:t>No edits after submission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9573768" y="3136392"/>
            <a:ext cx="274320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9912096" y="2962656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Frozen snapshot + amendments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726679" y="365760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 i="0">
                <a:solidFill>
                  <a:srgbClr val="262626"/>
                </a:solidFill>
                <a:latin typeface="Arial"/>
              </a:rPr>
              <a:t>EVC / SAC / SHC definitions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9573768" y="3831336"/>
            <a:ext cx="274320" cy="219456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Rounded Rectangle 17438"/>
          <p:cNvSpPr/>
          <p:nvPr/>
        </p:nvSpPr>
        <p:spPr>
          <a:xfrm>
            <a:off x="9912096" y="365760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Committee stages and queues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589520" y="4663440"/>
            <a:ext cx="4233672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4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Rounded Rectangle 17440"/>
          <p:cNvSpPr/>
          <p:nvPr/>
        </p:nvSpPr>
        <p:spPr>
          <a:xfrm>
            <a:off x="7726680" y="4507992"/>
            <a:ext cx="1536192" cy="310896"/>
          </a:xfrm>
          <a:prstGeom prst="roundRect">
            <a:avLst>
              <a:gd name="adj" fmla="val 30000"/>
            </a:avLst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Honest by design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726679" y="49011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APH_CLAUSE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759951" y="4901184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ADMIN_INSTRUCTION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0222992" y="4901184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DEMO_ASSUMPTION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726679" y="5257800"/>
            <a:ext cx="3977639" cy="896112"/>
          </a:xfrm>
          <a:prstGeom prst="rect">
            <a:avLst/>
          </a:prstGeom>
          <a:noFill/>
        </p:spPr>
        <p:txBody>
          <a:bodyPr wrap="square" anchor="t" lIns="0" rIns="0" tIns="27432" bIns="27432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Every rule carries its source label; no demo rule is shown as an AICTE rule.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62626"/>
                </a:solidFill>
                <a:latin typeface="Arial"/>
              </a:rPr>
              <a:t>All demo data is synthetic. No live AICTE connection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